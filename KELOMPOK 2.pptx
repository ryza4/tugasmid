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rlito" charset="1" panose="020F0502020204030204"/>
      <p:regular r:id="rId15"/>
    </p:embeddedFont>
    <p:embeddedFont>
      <p:font typeface="Carlito Bold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34450" y="150364"/>
            <a:ext cx="8324850" cy="577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sz="108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Studi L</a:t>
            </a:r>
            <a:r>
              <a:rPr lang="en-US" sz="108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earning platform Kalam UMI</a:t>
            </a:r>
          </a:p>
          <a:p>
            <a:pPr algn="l" marL="0" indent="0" lvl="0">
              <a:lnSpc>
                <a:spcPts val="108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934450" y="6113147"/>
            <a:ext cx="832485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Kelompok 2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Rifky Fahreza                        13020230050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Jumadil                                  13020230052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Andrian Sutrisman Laturi    13020210074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Muh. Ichwan Ardi Arif          13020210289</a:t>
            </a:r>
          </a:p>
          <a:p>
            <a:pPr algn="l" marL="0" indent="0" lvl="0">
              <a:lnSpc>
                <a:spcPts val="420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666750"/>
            <a:ext cx="7191375" cy="8953500"/>
            <a:chOff x="0" y="0"/>
            <a:chExt cx="1036915" cy="12909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6915" cy="1290994"/>
            </a:xfrm>
            <a:custGeom>
              <a:avLst/>
              <a:gdLst/>
              <a:ahLst/>
              <a:cxnLst/>
              <a:rect r="r" b="b" t="t" l="l"/>
              <a:pathLst>
                <a:path h="1290994" w="1036915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39779" y="1831816"/>
            <a:ext cx="13208441" cy="6522085"/>
            <a:chOff x="0" y="0"/>
            <a:chExt cx="17611255" cy="869611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17611255" cy="3609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1A73E8"/>
                  </a:solidFill>
                  <a:latin typeface="Carlito"/>
                  <a:ea typeface="Carlito"/>
                  <a:cs typeface="Carlito"/>
                  <a:sym typeface="Carlito"/>
                </a:rPr>
                <a:t>D</a:t>
              </a:r>
              <a:r>
                <a:rPr lang="en-US" sz="9000">
                  <a:solidFill>
                    <a:srgbClr val="1A73E8"/>
                  </a:solidFill>
                  <a:latin typeface="Carlito"/>
                  <a:ea typeface="Carlito"/>
                  <a:cs typeface="Carlito"/>
                  <a:sym typeface="Carlito"/>
                </a:rPr>
                <a:t>efinisi &amp; Konteks Sistem Kalam UMI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153025"/>
              <a:ext cx="17611255" cy="3543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159"/>
                </a:lnSpc>
              </a:pPr>
              <a:r>
                <a:rPr lang="en-US" sz="31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Kalam</a:t>
              </a:r>
              <a:r>
                <a:rPr lang="en-US" sz="31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UMI merupakan platform pembelajaran daring Universitas Muslim Indonesia yang berfungsi sebagai sarana pengelolaan materi, tugas, dan interaksi akademik secara digital.</a:t>
              </a:r>
            </a:p>
            <a:p>
              <a:pPr algn="just" marL="0" indent="0" lvl="0">
                <a:lnSpc>
                  <a:spcPts val="4159"/>
                </a:lnSpc>
              </a:pPr>
              <a:r>
                <a:rPr lang="en-US" sz="31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Namun, efektivitasnya masih terkendala pada performa dan pengalaman pengguna.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485343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0892" y="1028700"/>
            <a:ext cx="12411016" cy="2001470"/>
            <a:chOff x="0" y="0"/>
            <a:chExt cx="16548021" cy="26686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04775"/>
              <a:ext cx="16548021" cy="1933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1A73E8"/>
                  </a:solidFill>
                  <a:latin typeface="Carlito"/>
                  <a:ea typeface="Carlito"/>
                  <a:cs typeface="Carlito"/>
                  <a:sym typeface="Carlito"/>
                </a:rPr>
                <a:t>Permasalahan Sistem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35201"/>
              <a:ext cx="16548021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Hasil obs</a:t>
              </a:r>
              <a:r>
                <a:rPr lang="en-US" sz="3000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ervasi menunjukkan adanya beberapa kendala teknis dan fungsional: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1512" y="6819900"/>
            <a:ext cx="2590269" cy="160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</a:t>
            </a: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oading lambat &amp; error saat unggah tugas.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94990" y="6819900"/>
            <a:ext cx="2617503" cy="160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Fi</a:t>
            </a: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tur forum dan kuis jarang dimanfaatkan.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6278548"/>
            <a:ext cx="2571750" cy="318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Dos</a:t>
            </a: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en masih bergantung pada platform eksternal (WhatsApp, Telegram).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54075" y="6434137"/>
            <a:ext cx="2571750" cy="265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Kes</a:t>
            </a:r>
            <a:r>
              <a:rPr lang="en-US" sz="29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ulitan akses via smartphone dan keterbatasan jaringan.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88928" y="9383699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3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7736" y="5469939"/>
            <a:ext cx="1137821" cy="568911"/>
          </a:xfrm>
          <a:custGeom>
            <a:avLst/>
            <a:gdLst/>
            <a:ahLst/>
            <a:cxnLst/>
            <a:rect r="r" b="b" t="t" l="l"/>
            <a:pathLst>
              <a:path h="568911" w="1137821">
                <a:moveTo>
                  <a:pt x="0" y="0"/>
                </a:moveTo>
                <a:lnTo>
                  <a:pt x="1137821" y="0"/>
                </a:lnTo>
                <a:lnTo>
                  <a:pt x="1137821" y="568911"/>
                </a:lnTo>
                <a:lnTo>
                  <a:pt x="0" y="56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5743711" y="5469939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4279920" y="5469939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22245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6886" y="1258398"/>
            <a:ext cx="14943732" cy="127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580"/>
              </a:lnSpc>
            </a:pPr>
            <a:r>
              <a:rPr lang="en-US" sz="78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78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ebutuhan &amp; Tujuan Pengembangan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490854" y="4266618"/>
            <a:ext cx="5448300" cy="3819525"/>
            <a:chOff x="0" y="0"/>
            <a:chExt cx="7264400" cy="509270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38100"/>
              <a:ext cx="72644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K</a:t>
              </a: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ebutuhan Fungsional: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89000"/>
              <a:ext cx="7264400" cy="4203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</a:t>
              </a: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emudahan unggah dan manajemen materi pembelajaran.</a:t>
              </a: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Interaksi aktif melalui kuis, forum, dan feedback otomatis.</a:t>
              </a:r>
            </a:p>
            <a:p>
              <a:pPr algn="l" marL="0" indent="0" lvl="0">
                <a:lnSpc>
                  <a:spcPts val="4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68752" y="4266618"/>
            <a:ext cx="5448300" cy="3183502"/>
            <a:chOff x="0" y="0"/>
            <a:chExt cx="7264400" cy="424467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72644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K</a:t>
              </a: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ebutuhan Non-Fungsional: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03723"/>
              <a:ext cx="7264400" cy="3340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Ki</a:t>
              </a: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nerja sistem yang stabil dan cepat.</a:t>
              </a: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Keamanan data &amp; skalabilitas sistem.</a:t>
              </a:r>
            </a:p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76901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4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71512" y="600075"/>
            <a:ext cx="16949738" cy="82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50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Bus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ine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ss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Dr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v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er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72950" y="7381283"/>
            <a:ext cx="5448293" cy="1722404"/>
            <a:chOff x="0" y="0"/>
            <a:chExt cx="7264391" cy="229653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7264391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Keanda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la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n &amp; Ke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ma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n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an Sistem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60616"/>
              <a:ext cx="7264391" cy="123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Men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j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aga da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t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ak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d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mik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te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t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p te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r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lindungi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d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an si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stem tet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p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s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tab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il.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419850" y="7343183"/>
            <a:ext cx="54483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Peningka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an Kual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 In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eraks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 Akademik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19850" y="8152808"/>
            <a:ext cx="544830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</a:pPr>
            <a:r>
              <a:rPr lang="en-US" sz="2599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Me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duku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ng 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mu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arah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a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ara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dos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 d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mahas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swa</a:t>
            </a:r>
            <a:r>
              <a:rPr lang="en-US" sz="2599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7359963"/>
            <a:ext cx="5448300" cy="1743724"/>
            <a:chOff x="0" y="0"/>
            <a:chExt cx="7264400" cy="232496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72644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Efisie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n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si &amp; Aks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sibilit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</a:t>
              </a:r>
              <a:r>
                <a:rPr lang="en-US" b="true" sz="3000" strike="noStrike" u="none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89043"/>
              <a:ext cx="7264400" cy="123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S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i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st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m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d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pa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t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d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i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aks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es 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kapan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pun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,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d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i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 b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rbagai p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e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ra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n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gka</a:t>
              </a:r>
              <a:r>
                <a:rPr lang="en-US" sz="2599" strike="noStrike" u="none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t.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359380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5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6750" y="2457450"/>
            <a:ext cx="5448300" cy="4476750"/>
            <a:chOff x="0" y="0"/>
            <a:chExt cx="827486" cy="6799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4"/>
              <a:stretch>
                <a:fillRect l="-332" t="0" r="-33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172950" y="2457450"/>
            <a:ext cx="5443970" cy="4476750"/>
            <a:chOff x="0" y="0"/>
            <a:chExt cx="826828" cy="6799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6828" cy="679927"/>
            </a:xfrm>
            <a:custGeom>
              <a:avLst/>
              <a:gdLst/>
              <a:ahLst/>
              <a:cxnLst/>
              <a:rect r="r" b="b" t="t" l="l"/>
              <a:pathLst>
                <a:path h="679927" w="826828">
                  <a:moveTo>
                    <a:pt x="0" y="0"/>
                  </a:moveTo>
                  <a:lnTo>
                    <a:pt x="826828" y="0"/>
                  </a:lnTo>
                  <a:lnTo>
                    <a:pt x="826828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5"/>
              <a:stretch>
                <a:fillRect l="-372" t="0" r="-37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19850" y="2457450"/>
            <a:ext cx="5448300" cy="4476750"/>
            <a:chOff x="0" y="0"/>
            <a:chExt cx="827486" cy="6799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6"/>
              <a:stretch>
                <a:fillRect l="-332" t="0" r="-33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71512" y="600075"/>
            <a:ext cx="16949738" cy="82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50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rin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si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te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ur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2950" y="7343183"/>
            <a:ext cx="544829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Pr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in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ip SOLID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75331" y="7753502"/>
            <a:ext cx="5448293" cy="8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80"/>
              </a:lnSpc>
            </a:pPr>
            <a:r>
              <a:rPr lang="en-US" sz="22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SRP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DIP di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unt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uk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men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angi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rgan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ungan antar kompon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19850" y="7343183"/>
            <a:ext cx="5448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e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parat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on of Concerns (SoC)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2231" y="7731438"/>
            <a:ext cx="5448300" cy="8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80"/>
              </a:lnSpc>
            </a:pPr>
            <a:r>
              <a:rPr lang="en-US" sz="22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ap la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ha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y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nangani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tanggu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 jawab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ifik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21863"/>
            <a:ext cx="5448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M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o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dul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ri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7731438"/>
            <a:ext cx="5448300" cy="19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Sist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 dibagi me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j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di modu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ndep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en: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ing,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Ass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ment, Not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f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c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ion,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ll.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gkinkan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eng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emb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 paral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 dan 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mbarua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anpa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ggu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an.</a:t>
            </a:r>
          </a:p>
          <a:p>
            <a:pPr algn="just" marL="0" indent="0" lvl="0">
              <a:lnSpc>
                <a:spcPts val="308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359380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2457450"/>
            <a:ext cx="5448300" cy="4476750"/>
            <a:chOff x="0" y="0"/>
            <a:chExt cx="827486" cy="6799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4"/>
              <a:stretch>
                <a:fillRect l="-332" t="0" r="-33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172950" y="2457450"/>
            <a:ext cx="5443970" cy="4476750"/>
            <a:chOff x="0" y="0"/>
            <a:chExt cx="826828" cy="6799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6828" cy="679927"/>
            </a:xfrm>
            <a:custGeom>
              <a:avLst/>
              <a:gdLst/>
              <a:ahLst/>
              <a:cxnLst/>
              <a:rect r="r" b="b" t="t" l="l"/>
              <a:pathLst>
                <a:path h="679927" w="826828">
                  <a:moveTo>
                    <a:pt x="0" y="0"/>
                  </a:moveTo>
                  <a:lnTo>
                    <a:pt x="826828" y="0"/>
                  </a:lnTo>
                  <a:lnTo>
                    <a:pt x="826828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5"/>
              <a:stretch>
                <a:fillRect l="-372" t="0" r="-37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419850" y="2457450"/>
            <a:ext cx="5448300" cy="4476750"/>
            <a:chOff x="0" y="0"/>
            <a:chExt cx="827486" cy="6799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6"/>
              <a:stretch>
                <a:fillRect l="-332" t="0" r="-33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71512" y="600075"/>
            <a:ext cx="16949738" cy="82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5000" strike="noStrike" u="none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Data-Driven Decision Making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2950" y="6438900"/>
            <a:ext cx="544829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D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e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sign Patt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e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rn: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68627" y="6856717"/>
            <a:ext cx="5448293" cy="27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F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c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ory: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nghasilkan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obj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mis untu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k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noti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f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ikasi.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Ob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ser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ver: mengirim notifika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otoma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 saat dos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ggah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ugas.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gy: mengga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nti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met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de pe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ilaian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(r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ta-rata, terti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ggi,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berbob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)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.</a:t>
            </a:r>
          </a:p>
          <a:p>
            <a:pPr algn="just" marL="0" indent="0" lvl="0">
              <a:lnSpc>
                <a:spcPts val="30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422231" y="3810000"/>
            <a:ext cx="544830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Kalam UMI mengadopsi bebe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r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apa pola d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e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sai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n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 untuk efisiensi 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d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an 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kalabilitas: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513" y="6447142"/>
            <a:ext cx="5448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Pola Ar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si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tek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t</a:t>
            </a:r>
            <a:r>
              <a:rPr lang="en-US" b="true" sz="3000" strike="noStrike" u="none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ur: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1512" y="6848475"/>
            <a:ext cx="5448300" cy="19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API G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way: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tu pi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tu untuk semu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y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nan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l.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CQRS: 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sahka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n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op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rasi ba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c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a–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t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ul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s untuk m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en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ingkatk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an 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pe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form</a:t>
            </a:r>
            <a:r>
              <a:rPr lang="en-US" sz="2200" strike="noStrike" u="none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a.</a:t>
            </a:r>
          </a:p>
          <a:p>
            <a:pPr algn="just" marL="0" indent="0" lvl="0">
              <a:lnSpc>
                <a:spcPts val="308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359380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7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6750" y="1892570"/>
            <a:ext cx="5448300" cy="4476750"/>
            <a:chOff x="0" y="0"/>
            <a:chExt cx="827486" cy="6799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4"/>
              <a:stretch>
                <a:fillRect l="-332" t="0" r="-33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1892570"/>
            <a:ext cx="5443970" cy="4476750"/>
            <a:chOff x="0" y="0"/>
            <a:chExt cx="826828" cy="6799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6828" cy="679927"/>
            </a:xfrm>
            <a:custGeom>
              <a:avLst/>
              <a:gdLst/>
              <a:ahLst/>
              <a:cxnLst/>
              <a:rect r="r" b="b" t="t" l="l"/>
              <a:pathLst>
                <a:path h="679927" w="826828">
                  <a:moveTo>
                    <a:pt x="0" y="0"/>
                  </a:moveTo>
                  <a:lnTo>
                    <a:pt x="826828" y="0"/>
                  </a:lnTo>
                  <a:lnTo>
                    <a:pt x="826828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5"/>
              <a:stretch>
                <a:fillRect l="-372" t="0" r="-37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32397" y="923925"/>
            <a:ext cx="5623207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Kesi</a:t>
            </a:r>
            <a:r>
              <a:rPr lang="en-US" sz="9000">
                <a:solidFill>
                  <a:srgbClr val="1A73E8"/>
                </a:solidFill>
                <a:latin typeface="Carlito"/>
                <a:ea typeface="Carlito"/>
                <a:cs typeface="Carlito"/>
                <a:sym typeface="Carlito"/>
              </a:rPr>
              <a:t>mpulan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370489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8</a:t>
            </a:r>
          </a:p>
        </p:txBody>
      </p:sp>
      <p:sp>
        <p:nvSpPr>
          <p:cNvPr name="AutoShape 4" id="4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42213" y="3791746"/>
            <a:ext cx="13003574" cy="4010660"/>
            <a:chOff x="0" y="0"/>
            <a:chExt cx="17338099" cy="534754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17338099" cy="176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</a:t>
              </a: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esain arsitektur Kalam UMI menekankan struktur modular, keamanan, dan skalabilitas melalui pendekatan Layered Architecture.</a:t>
              </a:r>
            </a:p>
            <a:p>
              <a:pPr algn="just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3949A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 Implementasi prinsip modularitas, SoC, dan SOLID memperkuat efisiensi sistem.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006600"/>
              <a:ext cx="17338099" cy="3340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Kesimpulan Utama:</a:t>
              </a: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Arsitektur yang terstruktur meningkatkan stabilitas dan maintainability.</a:t>
              </a: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Pola desain mempercepat pengembangan dan integrasi fitur.</a:t>
              </a: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3949AB"/>
                  </a:solidFill>
                  <a:latin typeface="Carlito"/>
                  <a:ea typeface="Carlito"/>
                  <a:cs typeface="Carlito"/>
                  <a:sym typeface="Carlito"/>
                </a:rPr>
                <a:t>Sistem siap dikembangkan menuju arsitektur microservices di masa depan.</a:t>
              </a:r>
            </a:p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949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07599" cy="6267450"/>
            <a:chOff x="0" y="0"/>
            <a:chExt cx="1114646" cy="8409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4646" cy="840916"/>
            </a:xfrm>
            <a:custGeom>
              <a:avLst/>
              <a:gdLst/>
              <a:ahLst/>
              <a:cxnLst/>
              <a:rect r="r" b="b" t="t" l="l"/>
              <a:pathLst>
                <a:path h="840916" w="1114646">
                  <a:moveTo>
                    <a:pt x="0" y="0"/>
                  </a:moveTo>
                  <a:lnTo>
                    <a:pt x="1114646" y="0"/>
                  </a:lnTo>
                  <a:lnTo>
                    <a:pt x="1114646" y="840916"/>
                  </a:lnTo>
                  <a:lnTo>
                    <a:pt x="0" y="840916"/>
                  </a:lnTo>
                  <a:close/>
                </a:path>
              </a:pathLst>
            </a:custGeom>
            <a:blipFill>
              <a:blip r:embed="rId4"/>
              <a:stretch>
                <a:fillRect l="-44" t="0" r="-44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2700000">
            <a:off x="1902879" y="429640"/>
            <a:ext cx="2703157" cy="3592235"/>
          </a:xfrm>
          <a:custGeom>
            <a:avLst/>
            <a:gdLst/>
            <a:ahLst/>
            <a:cxnLst/>
            <a:rect r="r" b="b" t="t" l="l"/>
            <a:pathLst>
              <a:path h="3592235" w="2703157">
                <a:moveTo>
                  <a:pt x="0" y="0"/>
                </a:moveTo>
                <a:lnTo>
                  <a:pt x="2703156" y="0"/>
                </a:lnTo>
                <a:lnTo>
                  <a:pt x="2703156" y="3592234"/>
                </a:lnTo>
                <a:lnTo>
                  <a:pt x="0" y="35922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15755">
            <a:off x="4744316" y="1439509"/>
            <a:ext cx="2626000" cy="3489701"/>
          </a:xfrm>
          <a:custGeom>
            <a:avLst/>
            <a:gdLst/>
            <a:ahLst/>
            <a:cxnLst/>
            <a:rect r="r" b="b" t="t" l="l"/>
            <a:pathLst>
              <a:path h="3489701" w="2626000">
                <a:moveTo>
                  <a:pt x="0" y="0"/>
                </a:moveTo>
                <a:lnTo>
                  <a:pt x="2626000" y="0"/>
                </a:lnTo>
                <a:lnTo>
                  <a:pt x="2626000" y="3489700"/>
                </a:lnTo>
                <a:lnTo>
                  <a:pt x="0" y="3489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59380" y="9393224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9AB"/>
                </a:solidFill>
                <a:latin typeface="Carlito"/>
                <a:ea typeface="Carlito"/>
                <a:cs typeface="Carlito"/>
                <a:sym typeface="Carlito"/>
              </a:rPr>
              <a:t>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0310" y="6340557"/>
            <a:ext cx="5448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00"/>
              </a:lnSpc>
            </a:pPr>
            <a:r>
              <a:rPr lang="en-US" b="true" sz="3000">
                <a:solidFill>
                  <a:srgbClr val="3949AB"/>
                </a:solidFill>
                <a:latin typeface="Carlito Bold"/>
                <a:ea typeface="Carlito Bold"/>
                <a:cs typeface="Carlito Bold"/>
                <a:sym typeface="Carlito Bold"/>
              </a:rPr>
              <a:t>Rifky Fahreza : semuanya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Empowering Digital Learning</dc:description>
  <dc:identifier>DAG4NU2BJbg</dc:identifier>
  <dcterms:modified xsi:type="dcterms:W3CDTF">2011-08-01T06:04:30Z</dcterms:modified>
  <cp:revision>1</cp:revision>
  <dc:title>Presentasi - Empowering Digital Learning</dc:title>
</cp:coreProperties>
</file>